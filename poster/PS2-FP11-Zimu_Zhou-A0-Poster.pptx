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3763" cy="30275213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27" d="100"/>
          <a:sy n="27" d="100"/>
        </p:scale>
        <p:origin x="131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Holder efficiency</c:v>
                </c:pt>
              </c:strCache>
            </c:strRef>
          </c:tx>
          <c:spPr>
            <a:solidFill>
              <a:srgbClr val="003B86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600">
                    <a:latin typeface="Calibri"/>
                    <a:ea typeface="Calibri"/>
                    <a:cs typeface="Calibri"/>
                  </a:defRPr>
                </a:pPr>
                <a:endParaRPr lang="en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TWV · m = 1</c:v>
                </c:pt>
                <c:pt idx="1">
                  <c:v>SRV · m = 1</c:v>
                </c:pt>
                <c:pt idx="2">
                  <c:v>SRV · m = 8</c:v>
                </c:pt>
              </c:strCache>
            </c:strRef>
          </c:cat>
          <c:val>
            <c:numRef>
              <c:f>Sheet1!$B$2:$B$4</c:f>
              <c:numCache>
                <c:formatCode>0.000</c:formatCode>
                <c:ptCount val="3"/>
                <c:pt idx="0">
                  <c:v>0.8990649793761742</c:v>
                </c:pt>
                <c:pt idx="1">
                  <c:v>0.9277806297233114</c:v>
                </c:pt>
                <c:pt idx="2">
                  <c:v>0.8990649793761742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97-C841-A224-78FAB0DC6E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Non-whale representation</c:v>
                </c:pt>
              </c:strCache>
            </c:strRef>
          </c:tx>
          <c:spPr>
            <a:solidFill>
              <a:srgbClr val="DB872E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600">
                    <a:latin typeface="Calibri"/>
                    <a:ea typeface="Calibri"/>
                    <a:cs typeface="Calibri"/>
                  </a:defRPr>
                </a:pPr>
                <a:endParaRPr lang="en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TWV · m = 1</c:v>
                </c:pt>
                <c:pt idx="1">
                  <c:v>SRV · m = 1</c:v>
                </c:pt>
                <c:pt idx="2">
                  <c:v>SRV · m = 8</c:v>
                </c:pt>
              </c:strCache>
            </c:strRef>
          </c:cat>
          <c:val>
            <c:numRef>
              <c:f>Sheet1!$C$2:$C$4</c:f>
              <c:numCache>
                <c:formatCode>0.000</c:formatCode>
                <c:ptCount val="3"/>
                <c:pt idx="0">
                  <c:v>0.321</c:v>
                </c:pt>
                <c:pt idx="1">
                  <c:v>0.417</c:v>
                </c:pt>
                <c:pt idx="2">
                  <c:v>0.321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B97-C841-A224-78FAB0DC6E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Whale success</c:v>
                </c:pt>
              </c:strCache>
            </c:strRef>
          </c:tx>
          <c:spPr>
            <a:solidFill>
              <a:srgbClr val="128447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600">
                    <a:latin typeface="Calibri"/>
                    <a:ea typeface="Calibri"/>
                    <a:cs typeface="Calibri"/>
                  </a:defRPr>
                </a:pPr>
                <a:endParaRPr lang="en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TWV · m = 1</c:v>
                </c:pt>
                <c:pt idx="1">
                  <c:v>SRV · m = 1</c:v>
                </c:pt>
                <c:pt idx="2">
                  <c:v>SRV · m = 8</c:v>
                </c:pt>
              </c:strCache>
            </c:strRef>
          </c:cat>
          <c:val>
            <c:numRef>
              <c:f>Sheet1!$D$2:$D$4</c:f>
              <c:numCache>
                <c:formatCode>0.000</c:formatCode>
                <c:ptCount val="3"/>
                <c:pt idx="0">
                  <c:v>1</c:v>
                </c:pt>
                <c:pt idx="1">
                  <c:v>0.896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B97-C841-A224-78FAB0DC6E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7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D5DFE7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2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CN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2700">
              <a:latin typeface="Calibri"/>
              <a:ea typeface="Calibri"/>
              <a:cs typeface="Calibri"/>
            </a:defRPr>
          </a:pPr>
          <a:endParaRPr lang="en-CN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Revised 6 October 2026 to match computational artifact commit 4e96644c9962f7d1441e7d6c36063d4b2facf3de.</a:t>
            </a:r>
          </a:p>
          <a:p>
            <a:r>
              <a:t>Sources: README.md, VERIFICATION.md, src/simulation.py, outputs/summary.json at that commit.</a:t>
            </a:r>
          </a:p>
          <a:p>
            <a:r>
              <a:t>The reported results are a sincere-voting baseline with 1,000 shared profiles, three conditions, and fixed whale stake 0.60. The chart and table use the exact committed summary values, rounded only for display. Original best-response/Nash audit claims and unexported mean utility values have been removed.</a:t>
            </a:r>
          </a:p>
          <a:p>
            <a:r>
              <a:t>Colab notebook: https://colab.research.google.com/github/dku-comsci-econ206-Autumn2026/PS2_Zimu/blob/main/dao_treasury_simulation.ipynb</a:t>
            </a:r>
          </a:p>
          <a:p>
            <a:r>
              <a:t>Self-play remains a single author reflection from separate behavioral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hyperlink" Target="https://huggingface.co/spaces/dku-comsci-econ206-2026/DAO_Treasury" TargetMode="External"/><Relationship Id="rId6" Type="http://schemas.openxmlformats.org/officeDocument/2006/relationships/hyperlink" Target="https://github.com/dku-comsci-econ206-Autumn2026/PS2_Zimu" TargetMode="External"/><Relationship Id="rId7" Type="http://schemas.openxmlformats.org/officeDocument/2006/relationships/hyperlink" Target="https://colab.research.google.com/github/dku-comsci-econ206-Autumn2026/PS2_Zimu/blob/main/dao_treasury_simulation.ipynb" TargetMode="Externa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hyperlink" Target="https://github.com/dku-comsci-econ206-Autumn2026/PS2_Zimu/tree/4e96644c9962f7d1441e7d6c36063d4b2facf3de" TargetMode="External"/><Relationship Id="rId1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740000" y="1152000"/>
            <a:ext cx="7416000" cy="23778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B75E95DE-B3A7-4311-A7E5-54BE8D6F6D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4000" cy="180000"/>
          </a:xfrm>
          <a:prstGeom prst="rect">
            <a:avLst/>
          </a:prstGeom>
          <a:solidFill>
            <a:srgbClr val="003B8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55" name="COMSCI / ECON 206   |   PS2 RESEARCH SYMPOSIUM   |   FALL 2026">
            <a:extLst>
              <a:ext uri="{FF2B5EF4-FFF2-40B4-BE49-F238E27FC236}">
                <a16:creationId xmlns:a16="http://schemas.microsoft.com/office/drawing/2014/main" id="{E7B0C836-6C59-459D-B483-D1C38943203F}"/>
              </a:ext>
            </a:extLst>
          </p:cNvPr>
          <p:cNvSpPr>
            <a:spLocks noGrp="1"/>
          </p:cNvSpPr>
          <p:nvPr/>
        </p:nvSpPr>
        <p:spPr>
          <a:xfrm>
            <a:off x="648000" y="396000"/>
            <a:ext cx="3420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003B86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3B86"/>
                </a:solidFill>
                <a:latin typeface="Calibri"/>
                <a:ea typeface="Calibri"/>
                <a:cs typeface="Calibri"/>
              </a:rPr>
              <a:t>COMSCI / ECON 206   |   PS2 RESEARCH SYMPOSIUM   |   FALL 2026</a:t>
            </a:r>
          </a:p>
        </p:txBody>
      </p:sp>
      <p:sp>
        <p:nvSpPr>
          <p:cNvPr id="56" name="Governing the DAO Treasury: Token-Weighted vs. Square-Root Voting&#10;unde">
            <a:extLst>
              <a:ext uri="{FF2B5EF4-FFF2-40B4-BE49-F238E27FC236}">
                <a16:creationId xmlns:a16="http://schemas.microsoft.com/office/drawing/2014/main" id="{F5B864F9-CAE5-478C-BEA4-6D0B541AB034}"/>
              </a:ext>
            </a:extLst>
          </p:cNvPr>
          <p:cNvSpPr>
            <a:spLocks noGrp="1"/>
          </p:cNvSpPr>
          <p:nvPr/>
        </p:nvSpPr>
        <p:spPr>
          <a:xfrm>
            <a:off x="648000" y="1044000"/>
            <a:ext cx="33480000" cy="18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60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60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Governing the DAO Treasury: Token-Weighted vs. Square-Root Voting</a:t>
            </a:r>
          </a:p>
          <a:p>
            <a:pPr>
              <a:defRPr sz="60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60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under Whale Concentration and Sybil Splitting</a:t>
            </a:r>
          </a:p>
        </p:txBody>
      </p:sp>
      <p:sp>
        <p:nvSpPr>
          <p:cNvPr id="57" name="Zimu Zhou  |  Team FP11 (solo)  |  Duke Kunshan University">
            <a:extLst>
              <a:ext uri="{FF2B5EF4-FFF2-40B4-BE49-F238E27FC236}">
                <a16:creationId xmlns:a16="http://schemas.microsoft.com/office/drawing/2014/main" id="{E491200A-1A9A-4B20-98A4-BF3D9A42B792}"/>
              </a:ext>
            </a:extLst>
          </p:cNvPr>
          <p:cNvSpPr>
            <a:spLocks noGrp="1"/>
          </p:cNvSpPr>
          <p:nvPr/>
        </p:nvSpPr>
        <p:spPr>
          <a:xfrm>
            <a:off x="648000" y="3096000"/>
            <a:ext cx="31680000" cy="5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Zimu Zhou  |  Team FP11 (solo)  |  Duke Kunshan University</a:t>
            </a:r>
          </a:p>
        </p:txBody>
      </p:sp>
      <p:sp>
        <p:nvSpPr>
          <p:cNvPr id="58" name="Course instructor: Professor Luyao Zhang">
            <a:extLst>
              <a:ext uri="{FF2B5EF4-FFF2-40B4-BE49-F238E27FC236}">
                <a16:creationId xmlns:a16="http://schemas.microsoft.com/office/drawing/2014/main" id="{F324CBBA-7E5B-4DF8-9DDD-23B8ACAD0E19}"/>
              </a:ext>
            </a:extLst>
          </p:cNvPr>
          <p:cNvSpPr>
            <a:spLocks noGrp="1"/>
          </p:cNvSpPr>
          <p:nvPr/>
        </p:nvSpPr>
        <p:spPr>
          <a:xfrm>
            <a:off x="648000" y="3636000"/>
            <a:ext cx="31680000" cy="46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8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BE71CD5-5CEC-4F6A-8333-B74B27875B34}"/>
              </a:ext>
            </a:extLst>
          </p:cNvPr>
          <p:cNvSpPr>
            <a:spLocks noGrp="1"/>
          </p:cNvSpPr>
          <p:nvPr/>
        </p:nvSpPr>
        <p:spPr>
          <a:xfrm>
            <a:off x="0" y="4212000"/>
            <a:ext cx="42804000" cy="32400"/>
          </a:xfrm>
          <a:prstGeom prst="rect">
            <a:avLst/>
          </a:prstGeom>
          <a:solidFill>
            <a:srgbClr val="12844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AEF4C5-FB1C-4957-A4AD-DD65452B28C5}"/>
              </a:ext>
            </a:extLst>
          </p:cNvPr>
          <p:cNvSpPr>
            <a:spLocks noGrp="1"/>
          </p:cNvSpPr>
          <p:nvPr/>
        </p:nvSpPr>
        <p:spPr>
          <a:xfrm>
            <a:off x="0" y="4212000"/>
            <a:ext cx="42804000" cy="32400"/>
          </a:xfrm>
          <a:prstGeom prst="rect">
            <a:avLst/>
          </a:prstGeom>
          <a:solidFill>
            <a:srgbClr val="12844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039AB79-7002-4E18-BD2B-9E4B13E66ED8}"/>
              </a:ext>
            </a:extLst>
          </p:cNvPr>
          <p:cNvSpPr>
            <a:spLocks noGrp="1"/>
          </p:cNvSpPr>
          <p:nvPr/>
        </p:nvSpPr>
        <p:spPr>
          <a:xfrm>
            <a:off x="648000" y="4320000"/>
            <a:ext cx="11700000" cy="864000"/>
          </a:xfrm>
          <a:prstGeom prst="rect">
            <a:avLst/>
          </a:prstGeom>
          <a:solidFill>
            <a:srgbClr val="003B8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2" name="01  Question &amp; model">
            <a:extLst>
              <a:ext uri="{FF2B5EF4-FFF2-40B4-BE49-F238E27FC236}">
                <a16:creationId xmlns:a16="http://schemas.microsoft.com/office/drawing/2014/main" id="{37F9054F-58EB-4F9D-ABA4-A7B52CB42919}"/>
              </a:ext>
            </a:extLst>
          </p:cNvPr>
          <p:cNvSpPr>
            <a:spLocks noGrp="1"/>
          </p:cNvSpPr>
          <p:nvPr/>
        </p:nvSpPr>
        <p:spPr>
          <a:xfrm>
            <a:off x="828000" y="4392000"/>
            <a:ext cx="1134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 Question &amp; model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667F9F1-16C3-4D22-B13E-BCB9BA786ECA}"/>
              </a:ext>
            </a:extLst>
          </p:cNvPr>
          <p:cNvSpPr>
            <a:spLocks noGrp="1"/>
          </p:cNvSpPr>
          <p:nvPr/>
        </p:nvSpPr>
        <p:spPr>
          <a:xfrm>
            <a:off x="648000" y="5184000"/>
            <a:ext cx="11700000" cy="50400"/>
          </a:xfrm>
          <a:prstGeom prst="rect">
            <a:avLst/>
          </a:prstGeom>
          <a:solidFill>
            <a:srgbClr val="12844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A79C8F-F206-428E-B268-117C2E34ED20}"/>
              </a:ext>
            </a:extLst>
          </p:cNvPr>
          <p:cNvSpPr>
            <a:spLocks noGrp="1"/>
          </p:cNvSpPr>
          <p:nvPr/>
        </p:nvSpPr>
        <p:spPr>
          <a:xfrm>
            <a:off x="12888000" y="4320000"/>
            <a:ext cx="17028000" cy="864000"/>
          </a:xfrm>
          <a:prstGeom prst="rect">
            <a:avLst/>
          </a:prstGeom>
          <a:solidFill>
            <a:srgbClr val="003B8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5" name="02  Design &amp; evidence">
            <a:extLst>
              <a:ext uri="{FF2B5EF4-FFF2-40B4-BE49-F238E27FC236}">
                <a16:creationId xmlns:a16="http://schemas.microsoft.com/office/drawing/2014/main" id="{BFAEDE6F-A179-4444-B630-A4A08120C4FE}"/>
              </a:ext>
            </a:extLst>
          </p:cNvPr>
          <p:cNvSpPr>
            <a:spLocks noGrp="1"/>
          </p:cNvSpPr>
          <p:nvPr/>
        </p:nvSpPr>
        <p:spPr>
          <a:xfrm>
            <a:off x="13068000" y="4392000"/>
            <a:ext cx="16668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 Design &amp; evidence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0A1611-2B64-44A1-87CE-5E0CD399F38C}"/>
              </a:ext>
            </a:extLst>
          </p:cNvPr>
          <p:cNvSpPr>
            <a:spLocks noGrp="1"/>
          </p:cNvSpPr>
          <p:nvPr/>
        </p:nvSpPr>
        <p:spPr>
          <a:xfrm>
            <a:off x="12888000" y="5184000"/>
            <a:ext cx="17028000" cy="50400"/>
          </a:xfrm>
          <a:prstGeom prst="rect">
            <a:avLst/>
          </a:prstGeom>
          <a:solidFill>
            <a:srgbClr val="12844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5B42956-3092-47DC-AA95-278E46419A4F}"/>
              </a:ext>
            </a:extLst>
          </p:cNvPr>
          <p:cNvSpPr>
            <a:spLocks noGrp="1"/>
          </p:cNvSpPr>
          <p:nvPr/>
        </p:nvSpPr>
        <p:spPr>
          <a:xfrm>
            <a:off x="30456000" y="4320000"/>
            <a:ext cx="11700000" cy="864000"/>
          </a:xfrm>
          <a:prstGeom prst="rect">
            <a:avLst/>
          </a:prstGeom>
          <a:solidFill>
            <a:srgbClr val="003B8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8" name="03  Impact &amp; dialogue">
            <a:extLst>
              <a:ext uri="{FF2B5EF4-FFF2-40B4-BE49-F238E27FC236}">
                <a16:creationId xmlns:a16="http://schemas.microsoft.com/office/drawing/2014/main" id="{FF8D3ADB-E88C-45FF-8EA7-B1E270A2AD84}"/>
              </a:ext>
            </a:extLst>
          </p:cNvPr>
          <p:cNvSpPr>
            <a:spLocks noGrp="1"/>
          </p:cNvSpPr>
          <p:nvPr/>
        </p:nvSpPr>
        <p:spPr>
          <a:xfrm>
            <a:off x="30636000" y="4392000"/>
            <a:ext cx="11340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  Impact &amp; dialogue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6A790D3-5533-4F45-83DE-5CC67110A450}"/>
              </a:ext>
            </a:extLst>
          </p:cNvPr>
          <p:cNvSpPr>
            <a:spLocks noGrp="1"/>
          </p:cNvSpPr>
          <p:nvPr/>
        </p:nvSpPr>
        <p:spPr>
          <a:xfrm>
            <a:off x="30456000" y="5184000"/>
            <a:ext cx="11700000" cy="50400"/>
          </a:xfrm>
          <a:prstGeom prst="rect">
            <a:avLst/>
          </a:prstGeom>
          <a:solidFill>
            <a:srgbClr val="12844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97F2769-5DBB-46B7-A093-88FF3E3F37F7}"/>
              </a:ext>
            </a:extLst>
          </p:cNvPr>
          <p:cNvSpPr>
            <a:spLocks noGrp="1"/>
          </p:cNvSpPr>
          <p:nvPr/>
        </p:nvSpPr>
        <p:spPr>
          <a:xfrm>
            <a:off x="648000" y="5472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1" name="Research question &amp; verified gap">
            <a:extLst>
              <a:ext uri="{FF2B5EF4-FFF2-40B4-BE49-F238E27FC236}">
                <a16:creationId xmlns:a16="http://schemas.microsoft.com/office/drawing/2014/main" id="{049E3602-5D8D-4E22-9EF7-674FC036AE21}"/>
              </a:ext>
            </a:extLst>
          </p:cNvPr>
          <p:cNvSpPr>
            <a:spLocks noGrp="1"/>
          </p:cNvSpPr>
          <p:nvPr/>
        </p:nvSpPr>
        <p:spPr>
          <a:xfrm>
            <a:off x="792000" y="5508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72" name="Shared question: When does SRV improve welfare and non-whale represent">
            <a:extLst>
              <a:ext uri="{FF2B5EF4-FFF2-40B4-BE49-F238E27FC236}">
                <a16:creationId xmlns:a16="http://schemas.microsoft.com/office/drawing/2014/main" id="{758E9536-3E7C-48C1-92CA-6AB14F3A3171}"/>
              </a:ext>
            </a:extLst>
          </p:cNvPr>
          <p:cNvSpPr>
            <a:spLocks noGrp="1"/>
          </p:cNvSpPr>
          <p:nvPr/>
        </p:nvSpPr>
        <p:spPr>
          <a:xfrm>
            <a:off x="792000" y="6192000"/>
            <a:ext cx="11412000" cy="464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Shared question:</a:t>
            </a:r>
            <a:r>
              <a:rPr sz="31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When does SRV improve welfare and non-whale representation over TWV, and when does wallet splitting remove the gains?</a:t>
            </a:r>
          </a:p>
          <a:p>
            <a:pPr>
              <a:defRPr sz="31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Connected questions:</a:t>
            </a:r>
            <a:r>
              <a:rPr sz="31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Economics evaluates incentives and welfare. Computation tests wallet splitting at fixed concentration. Behavior asks whether fairness and Sybil awareness change rule preferences.</a:t>
            </a:r>
          </a:p>
          <a:p>
            <a:pPr>
              <a:defRPr sz="31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1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Verified gap:</a:t>
            </a:r>
            <a:r>
              <a:rPr sz="31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Fritsch et al. [4] measure actual DAO voting concentration. QV theory [2] prices votes, while Sybil research [3,5] already establishes identity risks. Our contribution is a bounded, reproducible comparison of these established mechanisms.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FE05A1B-8F68-410E-9050-CADF85791EDB}"/>
              </a:ext>
            </a:extLst>
          </p:cNvPr>
          <p:cNvSpPr>
            <a:spLocks noGrp="1"/>
          </p:cNvSpPr>
          <p:nvPr/>
        </p:nvSpPr>
        <p:spPr>
          <a:xfrm>
            <a:off x="648000" y="11052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4" name="Strategic model &amp; foundations">
            <a:extLst>
              <a:ext uri="{FF2B5EF4-FFF2-40B4-BE49-F238E27FC236}">
                <a16:creationId xmlns:a16="http://schemas.microsoft.com/office/drawing/2014/main" id="{C922C762-FA30-4DCB-90E1-97E216A21790}"/>
              </a:ext>
            </a:extLst>
          </p:cNvPr>
          <p:cNvSpPr>
            <a:spLocks noGrp="1"/>
          </p:cNvSpPr>
          <p:nvPr/>
        </p:nvSpPr>
        <p:spPr>
          <a:xfrm>
            <a:off x="792000" y="11088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Voting model &amp; foundations</a:t>
            </a:r>
          </a:p>
        </p:txBody>
      </p:sp>
      <p:sp>
        <p:nvSpPr>
          <p:cNvPr id="75" name="Players: Eight actors vote A, B or C for one fixed grant. The whale ow">
            <a:extLst>
              <a:ext uri="{FF2B5EF4-FFF2-40B4-BE49-F238E27FC236}">
                <a16:creationId xmlns:a16="http://schemas.microsoft.com/office/drawing/2014/main" id="{364D731D-F871-4C6C-A24E-2D93C37AC4EB}"/>
              </a:ext>
            </a:extLst>
          </p:cNvPr>
          <p:cNvSpPr>
            <a:spLocks noGrp="1"/>
          </p:cNvSpPr>
          <p:nvPr/>
        </p:nvSpPr>
        <p:spPr>
          <a:xfrm>
            <a:off x="792000" y="11772000"/>
            <a:ext cx="11412000" cy="51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Players: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Eight actors vote A, B or C for one fixed grant. The whale owns c = 0.60. Seven holders each own 0.40/7. Whale wallets vote as a bloc.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Utility and values: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Values vᵢⱼ are iid Uniform[0,1). Winner j* gives uᵢ = vᵢⱼ*. The simulator observes all values to evaluate welfare.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Timing and behavior: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Set the rule and wallet count m, then each actor votes sincerely for their highest-valued proposal. This is a one-shot voting baseline; strategic deviations are not simulated.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Scoring: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TWV uses wᵢ = sᵢ. SRV uses wᵢ = √sᵢ. Highest total score wins, with A/B/C tie priority. This is square-root weighting, not full QV.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17DDC8-7E05-41E4-9603-DBE3E9017114}"/>
              </a:ext>
            </a:extLst>
          </p:cNvPr>
          <p:cNvSpPr>
            <a:spLocks noGrp="1"/>
          </p:cNvSpPr>
          <p:nvPr/>
        </p:nvSpPr>
        <p:spPr>
          <a:xfrm>
            <a:off x="648000" y="17136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7" name="Three complementary lenses">
            <a:extLst>
              <a:ext uri="{FF2B5EF4-FFF2-40B4-BE49-F238E27FC236}">
                <a16:creationId xmlns:a16="http://schemas.microsoft.com/office/drawing/2014/main" id="{04255ABD-4AA9-403C-8842-2E3084EFE49D}"/>
              </a:ext>
            </a:extLst>
          </p:cNvPr>
          <p:cNvSpPr>
            <a:spLocks noGrp="1"/>
          </p:cNvSpPr>
          <p:nvPr/>
        </p:nvSpPr>
        <p:spPr>
          <a:xfrm>
            <a:off x="792000" y="17172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78" name="Game theory: A profitable ballot deviation can replace sincere voting.">
            <a:extLst>
              <a:ext uri="{FF2B5EF4-FFF2-40B4-BE49-F238E27FC236}">
                <a16:creationId xmlns:a16="http://schemas.microsoft.com/office/drawing/2014/main" id="{C4521579-1CC5-4CB7-8F26-31FED79B1D12}"/>
              </a:ext>
            </a:extLst>
          </p:cNvPr>
          <p:cNvSpPr>
            <a:spLocks noGrp="1"/>
          </p:cNvSpPr>
          <p:nvPr/>
        </p:nvSpPr>
        <p:spPr>
          <a:xfrm>
            <a:off x="792000" y="17856000"/>
            <a:ext cx="11412000" cy="33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Game theory: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Splitting c into m wallets raises SRV whale weight from √c to √(mc); TWV stays c. At c = 0.6, m &gt; 4.67 gives the whale a voting majority under SRV. The simulation fixes m.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Social choice: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Holder welfare W(j) = Σᵢvᵢⱼ counts actors equally. Stake welfare Σᵢsᵢvᵢⱼ weights ownership. Better representation can reduce stake efficiency.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Mechanism design: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Hold values fixed across TWV (m = 1), SRV (m = 1) and split SRV (m = 8).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902D52B-5AEB-4C83-BDE4-F49D9DE32E3F}"/>
              </a:ext>
            </a:extLst>
          </p:cNvPr>
          <p:cNvSpPr>
            <a:spLocks noGrp="1"/>
          </p:cNvSpPr>
          <p:nvPr/>
        </p:nvSpPr>
        <p:spPr>
          <a:xfrm>
            <a:off x="648000" y="21492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80" name="Week 5: treasury allocation comparison">
            <a:extLst>
              <a:ext uri="{FF2B5EF4-FFF2-40B4-BE49-F238E27FC236}">
                <a16:creationId xmlns:a16="http://schemas.microsoft.com/office/drawing/2014/main" id="{4E3BD428-EE4D-4BF6-9D52-E1E78C1898C1}"/>
              </a:ext>
            </a:extLst>
          </p:cNvPr>
          <p:cNvSpPr>
            <a:spLocks noGrp="1"/>
          </p:cNvSpPr>
          <p:nvPr/>
        </p:nvSpPr>
        <p:spPr>
          <a:xfrm>
            <a:off x="792000" y="21528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Week 5: treasury allocation comparison</a:t>
            </a:r>
          </a:p>
        </p:txBody>
      </p:sp>
      <p:sp>
        <p:nvSpPr>
          <p:cNvPr id="81" name="Resource and reports: One indivisible grant goes to one of three propo">
            <a:extLst>
              <a:ext uri="{FF2B5EF4-FFF2-40B4-BE49-F238E27FC236}">
                <a16:creationId xmlns:a16="http://schemas.microsoft.com/office/drawing/2014/main" id="{D2F7085F-2FAC-4CF1-9011-89FE8F690918}"/>
              </a:ext>
            </a:extLst>
          </p:cNvPr>
          <p:cNvSpPr>
            <a:spLocks noGrp="1"/>
          </p:cNvSpPr>
          <p:nvPr/>
        </p:nvSpPr>
        <p:spPr>
          <a:xfrm>
            <a:off x="792000" y="22212000"/>
            <a:ext cx="11412000" cy="316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Resource and reports: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One indivisible grant goes to one of three proposals. Holders report ballots based on individual valuations, not monetary bids.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Rules and outcomes: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The highest score receives the grant. Voting has zero payments and zero DAO revenue. Utility is the value of the selected proposal.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Boundary: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This is collective allocation. It has no seller, auction price, truthful-bidding theorem or revenue objective.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24C4B01-6B9C-49F7-ABB7-3B24EAD27240}"/>
              </a:ext>
            </a:extLst>
          </p:cNvPr>
          <p:cNvSpPr>
            <a:spLocks noGrp="1"/>
          </p:cNvSpPr>
          <p:nvPr/>
        </p:nvSpPr>
        <p:spPr>
          <a:xfrm>
            <a:off x="12888000" y="5472000"/>
            <a:ext cx="17028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83" name="Integrated research design">
            <a:extLst>
              <a:ext uri="{FF2B5EF4-FFF2-40B4-BE49-F238E27FC236}">
                <a16:creationId xmlns:a16="http://schemas.microsoft.com/office/drawing/2014/main" id="{2F7290F5-80B0-4A64-AA0A-283ED15D897E}"/>
              </a:ext>
            </a:extLst>
          </p:cNvPr>
          <p:cNvSpPr>
            <a:spLocks noGrp="1"/>
          </p:cNvSpPr>
          <p:nvPr/>
        </p:nvSpPr>
        <p:spPr>
          <a:xfrm>
            <a:off x="13032000" y="5508000"/>
            <a:ext cx="1674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Integrated research design</a:t>
            </a:r>
          </a:p>
        </p:txBody>
      </p:sp>
      <p:graphicFrame>
        <p:nvGraphicFramePr>
          <p:cNvPr id="152" name="Table 151"/>
          <p:cNvGraphicFramePr/>
          <p:nvPr/>
        </p:nvGraphicFramePr>
        <p:xfrm>
          <a:off x="12888000" y="6192000"/>
          <a:ext cx="17028000" cy="3381870"/>
        </p:xfrm>
        <a:graphic>
          <a:graphicData uri="http://schemas.openxmlformats.org/drawingml/2006/table">
            <a:tbl>
              <a:tblPr/>
              <a:tblGrid>
                <a:gridCol w="53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8000"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Economic model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Computational evidence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Behavioral evidence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8000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Unequal token holdings</a:t>
                      </a:r>
                    </a:p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TWV versus SRV</a:t>
                      </a:r>
                    </a:p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Holder/stake welfare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60% whale; 3 voting conditions
1,000 shared value profiles
Sincere ballots; seed 206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Browser self-play</a:t>
                      </a:r>
                    </a:p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Rule preference and fairness</a:t>
                      </a:r>
                    </a:p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Sybil-salience reflection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8000"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Prediction: less power for one unsplit whale.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Test: fixed stake, one versus eight whale wallets.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Revision: separate fairness from attack resistance.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Figure 1. One shared question links equilibrium incentives, reproducib">
            <a:extLst>
              <a:ext uri="{FF2B5EF4-FFF2-40B4-BE49-F238E27FC236}">
                <a16:creationId xmlns:a16="http://schemas.microsoft.com/office/drawing/2014/main" id="{010280C1-3713-420A-9389-34105EB0F7B2}"/>
              </a:ext>
            </a:extLst>
          </p:cNvPr>
          <p:cNvSpPr>
            <a:spLocks noGrp="1"/>
          </p:cNvSpPr>
          <p:nvPr/>
        </p:nvSpPr>
        <p:spPr>
          <a:xfrm>
            <a:off x="12960000" y="9540000"/>
            <a:ext cx="16884000" cy="10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0">
                <a:solidFill>
                  <a:srgbClr val="465462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465462"/>
                </a:solidFill>
                <a:latin typeface="Calibri"/>
                <a:ea typeface="Calibri"/>
                <a:cs typeface="Calibri"/>
              </a:rPr>
              <a:t>Figure 1. One shared question links splitting incentives, reproducible voting outcomes and a bounded behavioral reflection. Cost and salience experiments remain planned.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646F942-2842-4951-A6A8-197515BAF5EB}"/>
              </a:ext>
            </a:extLst>
          </p:cNvPr>
          <p:cNvSpPr>
            <a:spLocks noGrp="1"/>
          </p:cNvSpPr>
          <p:nvPr/>
        </p:nvSpPr>
        <p:spPr>
          <a:xfrm>
            <a:off x="12888000" y="10728000"/>
            <a:ext cx="17028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87" name="Key message at 60% whale ownership">
            <a:extLst>
              <a:ext uri="{FF2B5EF4-FFF2-40B4-BE49-F238E27FC236}">
                <a16:creationId xmlns:a16="http://schemas.microsoft.com/office/drawing/2014/main" id="{20D62F17-5C15-43B7-87F9-082A15976123}"/>
              </a:ext>
            </a:extLst>
          </p:cNvPr>
          <p:cNvSpPr>
            <a:spLocks noGrp="1"/>
          </p:cNvSpPr>
          <p:nvPr/>
        </p:nvSpPr>
        <p:spPr>
          <a:xfrm>
            <a:off x="13032000" y="10764000"/>
            <a:ext cx="1674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Key message at 60% whale ownership</a:t>
            </a:r>
          </a:p>
        </p:txBody>
      </p:sp>
      <p:sp>
        <p:nvSpPr>
          <p:cNvPr id="88" name="SRV improves representation at m = 1. Eight-wallet splitting removes t">
            <a:extLst>
              <a:ext uri="{FF2B5EF4-FFF2-40B4-BE49-F238E27FC236}">
                <a16:creationId xmlns:a16="http://schemas.microsoft.com/office/drawing/2014/main" id="{DAEFC0C0-D2FE-43DE-A3D4-70857425DFEA}"/>
              </a:ext>
            </a:extLst>
          </p:cNvPr>
          <p:cNvSpPr>
            <a:spLocks noGrp="1"/>
          </p:cNvSpPr>
          <p:nvPr/>
        </p:nvSpPr>
        <p:spPr>
          <a:xfrm>
            <a:off x="13032000" y="11448000"/>
            <a:ext cx="16740000" cy="111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7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7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In this benchmark, SRV improves representation at m = 1. Eight-wallet splitting removes that advantage.</a:t>
            </a:r>
          </a:p>
        </p:txBody>
      </p:sp>
      <p:graphicFrame>
        <p:nvGraphicFramePr>
          <p:cNvPr id="157" name="Chart"/>
          <p:cNvGraphicFramePr/>
          <p:nvPr/>
        </p:nvGraphicFramePr>
        <p:xfrm>
          <a:off x="12996000" y="12744000"/>
          <a:ext cx="16812000" cy="44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Figure 2. Observed synthetic means, seed 206, 1,000 paired profiles pe">
            <a:extLst>
              <a:ext uri="{FF2B5EF4-FFF2-40B4-BE49-F238E27FC236}">
                <a16:creationId xmlns:a16="http://schemas.microsoft.com/office/drawing/2014/main" id="{EAD84FAC-6744-4EA9-986E-55E4D501DF6B}"/>
              </a:ext>
            </a:extLst>
          </p:cNvPr>
          <p:cNvSpPr>
            <a:spLocks noGrp="1"/>
          </p:cNvSpPr>
          <p:nvPr/>
        </p:nvSpPr>
        <p:spPr>
          <a:xfrm>
            <a:off x="12960000" y="17280000"/>
            <a:ext cx="16884000" cy="9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50" b="0">
                <a:solidFill>
                  <a:srgbClr val="465462"/>
                </a:solidFill>
                <a:latin typeface="Calibri"/>
                <a:ea typeface="Calibri"/>
                <a:cs typeface="Calibri"/>
              </a:defRPr>
            </a:pPr>
            <a:r>
              <a:rPr sz="2650" b="0">
                <a:solidFill>
                  <a:srgbClr val="465462"/>
                </a:solidFill>
                <a:latin typeface="Calibri"/>
                <a:ea typeface="Calibri"/>
                <a:cs typeface="Calibri"/>
              </a:rPr>
              <a:t>Figure 2. Sincere-voting means, seed 206, 1,000 shared profiles per condition. Probabilities and efficiency ratios use the same 0–1 scale.</a:t>
            </a:r>
          </a:p>
        </p:txBody>
      </p:sp>
      <p:graphicFrame>
        <p:nvGraphicFramePr>
          <p:cNvPr id="159" name="Table 158"/>
          <p:cNvGraphicFramePr/>
          <p:nvPr/>
        </p:nvGraphicFramePr>
        <p:xfrm>
          <a:off x="12888000" y="18396000"/>
          <a:ext cx="17028000" cy="3333750"/>
        </p:xfrm>
        <a:graphic>
          <a:graphicData uri="http://schemas.openxmlformats.org/drawingml/2006/table">
            <a:tbl>
              <a:tblPr/>
              <a:tblGrid>
                <a:gridCol w="70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27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Outcome (sincere voting)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TWV, m=1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SRV, m=1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SRV, m=8</a:t>
                      </a:r>
                    </a:p>
                  </a:txBody>
                  <a:tcPr marL="114300" marR="95250" marT="28575" marB="28575" anchor="ctr">
                    <a:solidFill>
                      <a:srgbClr val="003B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Holder efficiency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0.899065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0.927781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0.899065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Stake-weighted efficiency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0.991097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0.977076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0.991097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Whale-preferred winner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89.6%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114300" marR="9525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Non-whale representation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32.1%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41.7%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32.1%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Payments / DAO revenue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 / 0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 / 0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50">
                          <a:solidFill>
                            <a:srgbClr val="17232E"/>
                          </a:solidFill>
                          <a:latin typeface="Calibri"/>
                          <a:ea typeface="Calibri"/>
                          <a:cs typeface="Calibri"/>
                        </a:rPr>
                        <a:t>0 / 0</a:t>
                      </a:r>
                    </a:p>
                  </a:txBody>
                  <a:tcPr marL="114300" marR="95250" marT="28575" marB="28575" anchor="ctr"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" name="Metrics: Efficiency divides realized welfare by its feasible maximum. ">
            <a:extLst>
              <a:ext uri="{FF2B5EF4-FFF2-40B4-BE49-F238E27FC236}">
                <a16:creationId xmlns:a16="http://schemas.microsoft.com/office/drawing/2014/main" id="{C3031B68-73BC-4B91-9109-A3E282B98101}"/>
              </a:ext>
            </a:extLst>
          </p:cNvPr>
          <p:cNvSpPr>
            <a:spLocks noGrp="1"/>
          </p:cNvSpPr>
          <p:nvPr/>
        </p:nvSpPr>
        <p:spPr>
          <a:xfrm>
            <a:off x="12996000" y="21852000"/>
            <a:ext cx="16812000" cy="15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Metrics:</a:t>
            </a:r>
            <a:r>
              <a:rPr sz="26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Efficiency divides realized welfare by its feasible maximum. Representation is the probability that the winner maximizes the seven non-whales’ summed values. It is not a headcount-majority measure.</a:t>
            </a:r>
          </a:p>
          <a:p>
            <a:pPr>
              <a:defRPr sz="26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6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Whale success is the fraction where the whale’s favorite wins. Welfare counts the whale once, regardless of wallet count.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0654730-4E0D-4F12-9318-A4884D76B6AC}"/>
              </a:ext>
            </a:extLst>
          </p:cNvPr>
          <p:cNvSpPr>
            <a:spLocks noGrp="1"/>
          </p:cNvSpPr>
          <p:nvPr/>
        </p:nvSpPr>
        <p:spPr>
          <a:xfrm>
            <a:off x="12888000" y="23616000"/>
            <a:ext cx="17028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94" name="Fresh-run verification">
            <a:extLst>
              <a:ext uri="{FF2B5EF4-FFF2-40B4-BE49-F238E27FC236}">
                <a16:creationId xmlns:a16="http://schemas.microsoft.com/office/drawing/2014/main" id="{7BFBE3F6-A3B2-4266-A758-439207C7C2A0}"/>
              </a:ext>
            </a:extLst>
          </p:cNvPr>
          <p:cNvSpPr>
            <a:spLocks noGrp="1"/>
          </p:cNvSpPr>
          <p:nvPr/>
        </p:nvSpPr>
        <p:spPr>
          <a:xfrm>
            <a:off x="13032000" y="23652000"/>
            <a:ext cx="1674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Reproducibility &amp; verification</a:t>
            </a:r>
          </a:p>
        </p:txBody>
      </p:sp>
      <p:sp>
        <p:nvSpPr>
          <p:cNvPr id="95" name="Reproducibility verification summary">
            <a:extLst>
              <a:ext uri="{FF2B5EF4-FFF2-40B4-BE49-F238E27FC236}">
                <a16:creationId xmlns:a16="http://schemas.microsoft.com/office/drawing/2014/main" id="{238ACD18-1246-444E-BC0C-81F987E95FC0}"/>
              </a:ext>
            </a:extLst>
          </p:cNvPr>
          <p:cNvSpPr>
            <a:spLocks noGrp="1"/>
          </p:cNvSpPr>
          <p:nvPr/>
        </p:nvSpPr>
        <p:spPr>
          <a:xfrm>
            <a:off x="13032000" y="24336000"/>
            <a:ext cx="16740000" cy="12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8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Python random.Random(206); c = 0.60; 1,000 shared profiles × 3 conditions = 3,000 rows. Committed CSV/JSON outputs agree with the executed notebook. Reruns are deterministic; TWV and split SRV match profile by profile.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7E2805-1CA3-47C6-85C6-7EBBA4216D10}"/>
              </a:ext>
            </a:extLst>
          </p:cNvPr>
          <p:cNvSpPr>
            <a:spLocks noGrp="1"/>
          </p:cNvSpPr>
          <p:nvPr/>
        </p:nvSpPr>
        <p:spPr>
          <a:xfrm>
            <a:off x="30456000" y="5472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97" name="Practical case: Uniswap governance">
            <a:extLst>
              <a:ext uri="{FF2B5EF4-FFF2-40B4-BE49-F238E27FC236}">
                <a16:creationId xmlns:a16="http://schemas.microsoft.com/office/drawing/2014/main" id="{F2CE43B7-E774-4B49-A5E3-ACD5BA4B5870}"/>
              </a:ext>
            </a:extLst>
          </p:cNvPr>
          <p:cNvSpPr>
            <a:spLocks noGrp="1"/>
          </p:cNvSpPr>
          <p:nvPr/>
        </p:nvSpPr>
        <p:spPr>
          <a:xfrm>
            <a:off x="30600000" y="5508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Practical case: Uniswap governance</a:t>
            </a:r>
          </a:p>
        </p:txBody>
      </p:sp>
      <p:sp>
        <p:nvSpPr>
          <p:cNvPr id="98" name="Context: UNI holders govern treasury spending [6]. We examine requirem">
            <a:extLst>
              <a:ext uri="{FF2B5EF4-FFF2-40B4-BE49-F238E27FC236}">
                <a16:creationId xmlns:a16="http://schemas.microsoft.com/office/drawing/2014/main" id="{5CA1F2DE-FE91-4C8C-A7EF-013F89CBFE79}"/>
              </a:ext>
            </a:extLst>
          </p:cNvPr>
          <p:cNvSpPr>
            <a:spLocks noGrp="1"/>
          </p:cNvSpPr>
          <p:nvPr/>
        </p:nvSpPr>
        <p:spPr>
          <a:xfrm>
            <a:off x="30600000" y="6192000"/>
            <a:ext cx="11412000" cy="46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Context: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UNI holders govern treasury spending [6]. We examine requirements for an SRV grant-voting pilot, without estimating actual Uniswap outcomes.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Pilot test: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Hold proposals fixed. Require representation gains to survive plausible splitting attacks and disclose identity safeguards’ access costs.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Risks: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Identity checks may exclude legitimate users and impose privacy and implementation costs.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Correction: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Publish results, allow wallet-classification appeals, rerun disputed cases, and revise or suspend a pilot whose identity assumptions fail.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746EE34-0AA8-46C3-BFD6-B265C7548899}"/>
              </a:ext>
            </a:extLst>
          </p:cNvPr>
          <p:cNvSpPr>
            <a:spLocks noGrp="1"/>
          </p:cNvSpPr>
          <p:nvPr/>
        </p:nvSpPr>
        <p:spPr>
          <a:xfrm>
            <a:off x="30456000" y="11052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00" name="Behavior &amp; interdisciplinary integration">
            <a:extLst>
              <a:ext uri="{FF2B5EF4-FFF2-40B4-BE49-F238E27FC236}">
                <a16:creationId xmlns:a16="http://schemas.microsoft.com/office/drawing/2014/main" id="{A1B37B13-F870-4B9E-B976-57159F822017}"/>
              </a:ext>
            </a:extLst>
          </p:cNvPr>
          <p:cNvSpPr>
            <a:spLocks noGrp="1"/>
          </p:cNvSpPr>
          <p:nvPr/>
        </p:nvSpPr>
        <p:spPr>
          <a:xfrm>
            <a:off x="30600000" y="11088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Behavior &amp; interdisciplinary integration</a:t>
            </a:r>
          </a:p>
        </p:txBody>
      </p:sp>
      <p:sp>
        <p:nvSpPr>
          <p:cNvPr id="101" name="Self-play, n = 1: The author voted A twice. TWV selected C and SRV sel">
            <a:extLst>
              <a:ext uri="{FF2B5EF4-FFF2-40B4-BE49-F238E27FC236}">
                <a16:creationId xmlns:a16="http://schemas.microsoft.com/office/drawing/2014/main" id="{CABE90ED-93CF-46FD-8F21-F7813070337A}"/>
              </a:ext>
            </a:extLst>
          </p:cNvPr>
          <p:cNvSpPr>
            <a:spLocks noGrp="1"/>
          </p:cNvSpPr>
          <p:nvPr/>
        </p:nvSpPr>
        <p:spPr>
          <a:xfrm>
            <a:off x="30600000" y="11772000"/>
            <a:ext cx="11412000" cy="615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Self-play, n = 1: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The author voted A twice. TWV selected C and SRV selected A. After considering Sybil splitting, preference switched from SRV to TWV.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Reflection: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Fairness mattered, yet the author would split a 60% whale stake into eight costless wallets. Fairness can conflict with incentives.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Alternative explanation: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Personal outcomes may drive preference. One self-play record establishes neither causality nor a population pattern.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Integration: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GitHub/Colab quantify synthetic voting outcomes. HF uses separate self-play scenarios to record fairness, rule preference and splitting intentions. These are distinct evidence sources.</a:t>
            </a:r>
          </a:p>
          <a:p>
            <a:pPr>
              <a:defRPr sz="30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Next test:</a:t>
            </a:r>
            <a:r>
              <a:rPr sz="30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Fix values and outcomes. Vary Sybil salience and splitting cost. Compare preferences and splitting intentions.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2BE8EAF-9F25-4F99-B38E-80538C96957C}"/>
              </a:ext>
            </a:extLst>
          </p:cNvPr>
          <p:cNvSpPr>
            <a:spLocks noGrp="1"/>
          </p:cNvSpPr>
          <p:nvPr/>
        </p:nvSpPr>
        <p:spPr>
          <a:xfrm>
            <a:off x="30456000" y="18216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03" name="Limitations &amp; next computational test">
            <a:extLst>
              <a:ext uri="{FF2B5EF4-FFF2-40B4-BE49-F238E27FC236}">
                <a16:creationId xmlns:a16="http://schemas.microsoft.com/office/drawing/2014/main" id="{6826CFAC-4444-49B5-9DDA-ECF7B1933C5D}"/>
              </a:ext>
            </a:extLst>
          </p:cNvPr>
          <p:cNvSpPr>
            <a:spLocks noGrp="1"/>
          </p:cNvSpPr>
          <p:nvPr/>
        </p:nvSpPr>
        <p:spPr>
          <a:xfrm>
            <a:off x="30600000" y="18252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Limitations &amp; next computational test</a:t>
            </a:r>
          </a:p>
        </p:txBody>
      </p:sp>
      <p:sp>
        <p:nvSpPr>
          <p:cNvPr id="104" name="Scope: Synthetic iid values and complete information. Wallet count is ">
            <a:extLst>
              <a:ext uri="{FF2B5EF4-FFF2-40B4-BE49-F238E27FC236}">
                <a16:creationId xmlns:a16="http://schemas.microsoft.com/office/drawing/2014/main" id="{E343BA4F-2AC9-4CB3-A20F-85F3C7164289}"/>
              </a:ext>
            </a:extLst>
          </p:cNvPr>
          <p:cNvSpPr>
            <a:spLocks noGrp="1"/>
          </p:cNvSpPr>
          <p:nvPr/>
        </p:nvSpPr>
        <p:spPr>
          <a:xfrm>
            <a:off x="30600000" y="18936000"/>
            <a:ext cx="11412000" cy="356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Scope:</a:t>
            </a:r>
            <a:r>
              <a:rPr sz="30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Synthetic iid values, sincere ballots and a 60% whale. Only the whale splits; splitting is exogenous, costless and coordinated.</a:t>
            </a:r>
          </a:p>
          <a:p>
            <a:pPr>
              <a:defRPr sz="30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Evidence boundary:</a:t>
            </a:r>
            <a:r>
              <a:rPr sz="30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Three conditions and one seed-206 sample. No equilibrium, uncertainty interval, real-DAO outcome or causal behavioral effect is established.</a:t>
            </a:r>
          </a:p>
          <a:p>
            <a:pPr>
              <a:defRPr sz="30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Next test:</a:t>
            </a:r>
            <a:r>
              <a:rPr sz="30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Add strategic voting and test Nash equilibria [1]. Vary concentration, splitting costs, identity constraints, seeds and valuation distributions.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BFB2A5D-CC59-4010-A61E-D2422FAB71B3}"/>
              </a:ext>
            </a:extLst>
          </p:cNvPr>
          <p:cNvSpPr>
            <a:spLocks noGrp="1"/>
          </p:cNvSpPr>
          <p:nvPr/>
        </p:nvSpPr>
        <p:spPr>
          <a:xfrm>
            <a:off x="30456000" y="22824000"/>
            <a:ext cx="11700000" cy="576000"/>
          </a:xfrm>
          <a:prstGeom prst="rect">
            <a:avLst/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06" name="Contribution, leadership &amp; dialogue">
            <a:extLst>
              <a:ext uri="{FF2B5EF4-FFF2-40B4-BE49-F238E27FC236}">
                <a16:creationId xmlns:a16="http://schemas.microsoft.com/office/drawing/2014/main" id="{FF8FF9C8-DB08-4E8D-910A-15102500D933}"/>
              </a:ext>
            </a:extLst>
          </p:cNvPr>
          <p:cNvSpPr>
            <a:spLocks noGrp="1"/>
          </p:cNvSpPr>
          <p:nvPr/>
        </p:nvSpPr>
        <p:spPr>
          <a:xfrm>
            <a:off x="30600000" y="22860000"/>
            <a:ext cx="1141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Contribution, leadership &amp; dialogue</a:t>
            </a:r>
          </a:p>
        </p:txBody>
      </p:sp>
      <p:sp>
        <p:nvSpPr>
          <p:cNvPr id="107" name="Value: Academic stress tests, an auditable industry pilot, and accessi">
            <a:extLst>
              <a:ext uri="{FF2B5EF4-FFF2-40B4-BE49-F238E27FC236}">
                <a16:creationId xmlns:a16="http://schemas.microsoft.com/office/drawing/2014/main" id="{414D8397-C99B-4A6C-94D1-C05D1CE29B5E}"/>
              </a:ext>
            </a:extLst>
          </p:cNvPr>
          <p:cNvSpPr>
            <a:spLocks noGrp="1"/>
          </p:cNvSpPr>
          <p:nvPr/>
        </p:nvSpPr>
        <p:spPr>
          <a:xfrm>
            <a:off x="30600000" y="23544000"/>
            <a:ext cx="11412000" cy="21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7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Value:</a:t>
            </a:r>
            <a:r>
              <a:rPr sz="27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Academic stress tests, an auditable industry pilot, and accessible education with a public challenge route. SDG 4 learning impact is untested.</a:t>
            </a:r>
          </a:p>
          <a:p>
            <a:pPr>
              <a:defRPr sz="27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7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2056 aspiration:</a:t>
            </a:r>
            <a:r>
              <a:rPr sz="27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Accountable governance under unequal ownership and manipulable identities.</a:t>
            </a:r>
          </a:p>
          <a:p>
            <a:pPr>
              <a:defRPr sz="27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75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Question:</a:t>
            </a:r>
            <a:r>
              <a:rPr sz="27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Which safeguards limit splitting without excluding users?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2552E12-0A5C-4F71-9DE0-D7F3D94C5508}"/>
              </a:ext>
            </a:extLst>
          </p:cNvPr>
          <p:cNvSpPr>
            <a:spLocks noGrp="1"/>
          </p:cNvSpPr>
          <p:nvPr/>
        </p:nvSpPr>
        <p:spPr>
          <a:xfrm>
            <a:off x="648000" y="25956000"/>
            <a:ext cx="41508000" cy="50400"/>
          </a:xfrm>
          <a:prstGeom prst="rect">
            <a:avLst/>
          </a:prstGeom>
          <a:solidFill>
            <a:srgbClr val="12844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09" name="Acknowledgments &amp; responsibility">
            <a:extLst>
              <a:ext uri="{FF2B5EF4-FFF2-40B4-BE49-F238E27FC236}">
                <a16:creationId xmlns:a16="http://schemas.microsoft.com/office/drawing/2014/main" id="{BD00E614-3C13-475C-A4D5-26FA083BF29B}"/>
              </a:ext>
            </a:extLst>
          </p:cNvPr>
          <p:cNvSpPr>
            <a:spLocks noGrp="1"/>
          </p:cNvSpPr>
          <p:nvPr/>
        </p:nvSpPr>
        <p:spPr>
          <a:xfrm>
            <a:off x="648000" y="26208000"/>
            <a:ext cx="1170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Acknowledgments &amp; responsibility</a:t>
            </a:r>
          </a:p>
        </p:txBody>
      </p:sp>
      <p:sp>
        <p:nvSpPr>
          <p:cNvPr id="110" name="Zimu Zhou completed the model, code, self-play, paper and poster as a ">
            <a:extLst>
              <a:ext uri="{FF2B5EF4-FFF2-40B4-BE49-F238E27FC236}">
                <a16:creationId xmlns:a16="http://schemas.microsoft.com/office/drawing/2014/main" id="{61F03120-D989-4048-80C8-EE095A5F9ED8}"/>
              </a:ext>
            </a:extLst>
          </p:cNvPr>
          <p:cNvSpPr>
            <a:spLocks noGrp="1"/>
          </p:cNvSpPr>
          <p:nvPr/>
        </p:nvSpPr>
        <p:spPr>
          <a:xfrm>
            <a:off x="648000" y="26856000"/>
            <a:ext cx="11700000" cy="313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Zimu Zhou completed the model, code, self-play, paper and poster as a solo team. Professor Luyao Zhang provided course guidance. The poster adapts the supplied course template.</a:t>
            </a:r>
          </a:p>
          <a:p>
            <a:pPr>
              <a:defRPr sz="26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Tools:</a:t>
            </a:r>
            <a:r>
              <a:rPr sz="26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 Python standard library, GitHub, Colab and Hugging Face. ChatGPT/Codex assisted drafting, debugging and layout. The author retains responsibility for assumptions, checks and claims.</a:t>
            </a:r>
          </a:p>
        </p:txBody>
      </p:sp>
      <p:sp>
        <p:nvSpPr>
          <p:cNvPr id="111" name="Selected references">
            <a:extLst>
              <a:ext uri="{FF2B5EF4-FFF2-40B4-BE49-F238E27FC236}">
                <a16:creationId xmlns:a16="http://schemas.microsoft.com/office/drawing/2014/main" id="{B232EBCB-624C-4705-956B-987A4F6707B4}"/>
              </a:ext>
            </a:extLst>
          </p:cNvPr>
          <p:cNvSpPr>
            <a:spLocks noGrp="1"/>
          </p:cNvSpPr>
          <p:nvPr/>
        </p:nvSpPr>
        <p:spPr>
          <a:xfrm>
            <a:off x="12888000" y="26208000"/>
            <a:ext cx="17028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112" name="[1] Nash, J. F. 1950. “Equilibrium Points in n-Person Games.” PNAS 36(">
            <a:extLst>
              <a:ext uri="{FF2B5EF4-FFF2-40B4-BE49-F238E27FC236}">
                <a16:creationId xmlns:a16="http://schemas.microsoft.com/office/drawing/2014/main" id="{0E631F6F-1FF9-4839-996F-982D59E53C63}"/>
              </a:ext>
            </a:extLst>
          </p:cNvPr>
          <p:cNvSpPr>
            <a:spLocks noGrp="1"/>
          </p:cNvSpPr>
          <p:nvPr/>
        </p:nvSpPr>
        <p:spPr>
          <a:xfrm>
            <a:off x="12888000" y="26856000"/>
            <a:ext cx="17028000" cy="313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[1] Nash, J. F. 1950. “Equilibrium Points in n-Person Games.” PNAS 36(1): 48–49. https://doi.org/10.1073/pnas.36.1.48</a:t>
            </a:r>
          </a:p>
          <a:p>
            <a:pPr>
              <a:defRPr sz="22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[2] Lalley, S. P., and E. G. Weyl. 2018. “Quadratic Voting: How Mechanism Design Can Radicalize Democracy.” AEA Papers and Proceedings 108: 33–37. https://doi.org/10.1257/pandp.20181002</a:t>
            </a:r>
          </a:p>
          <a:p>
            <a:pPr>
              <a:defRPr sz="22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[3] Douceur, J. R. 2002. “The Sybil Attack.” IPTPS, 251–260. https://doi.org/10.1007/3-540-45748-8_24</a:t>
            </a:r>
          </a:p>
          <a:p>
            <a:pPr>
              <a:defRPr sz="22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[4] Fritsch, R., M. Müller, and R. Wattenhofer. 2024. “Analyzing Voting Power in Decentralized Governance: Who Controls DAOs?” Blockchain: Research and Applications 5(3): 100208. https://doi.org/10.1016/j.bcra.2024.100208</a:t>
            </a:r>
          </a:p>
          <a:p>
            <a:pPr>
              <a:defRPr sz="22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[5] Bennett, A., P. Vander Vos, D. V. Le, and M. Belenkiy. 2026. “Concave is the New Linear: The Impossibility of Anti-Plutocratic DAO Governance.” arXiv:2605.18990. https://doi.org/10.48550/arXiv.2605.18990</a:t>
            </a:r>
          </a:p>
          <a:p>
            <a:pPr>
              <a:defRPr sz="225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[6] Uniswap. “Governance Overview.” Accessed 27 Sep 2026. https://developers.uniswap.org/docs/ecosystem/governance/overview</a:t>
            </a:r>
          </a:p>
        </p:txBody>
      </p:sp>
      <p:sp>
        <p:nvSpPr>
          <p:cNvPr id="113" name="Open materials &amp; exact version">
            <a:extLst>
              <a:ext uri="{FF2B5EF4-FFF2-40B4-BE49-F238E27FC236}">
                <a16:creationId xmlns:a16="http://schemas.microsoft.com/office/drawing/2014/main" id="{F11575F8-8973-418C-9234-B2273DFC694E}"/>
              </a:ext>
            </a:extLst>
          </p:cNvPr>
          <p:cNvSpPr>
            <a:spLocks noGrp="1"/>
          </p:cNvSpPr>
          <p:nvPr/>
        </p:nvSpPr>
        <p:spPr>
          <a:xfrm>
            <a:off x="30456000" y="26208000"/>
            <a:ext cx="1170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082C6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82C60"/>
                </a:solidFill>
                <a:latin typeface="Calibri"/>
                <a:ea typeface="Calibri"/>
                <a:cs typeface="Calibri"/>
              </a:rPr>
              <a:t>Open materials &amp; exact version</a:t>
            </a:r>
          </a:p>
        </p:txBody>
      </p:sp>
      <p:sp>
        <p:nvSpPr>
          <p:cNvPr id="114" name="Hugging Face: https://huggingface.co/spaces/dku-comsci-econ206-2026/DA">
            <a:extLst>
              <a:ext uri="{FF2B5EF4-FFF2-40B4-BE49-F238E27FC236}">
                <a16:creationId xmlns:a16="http://schemas.microsoft.com/office/drawing/2014/main" id="{83ECB256-41AC-429C-84CC-5E61C9FF8E0F}"/>
              </a:ext>
            </a:extLst>
          </p:cNvPr>
          <p:cNvSpPr>
            <a:spLocks noGrp="1"/>
          </p:cNvSpPr>
          <p:nvPr/>
        </p:nvSpPr>
        <p:spPr>
          <a:xfrm>
            <a:off x="30456000" y="26856000"/>
            <a:ext cx="11700000" cy="313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Hugging Face: </a:t>
            </a: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  <a:hlinkClick r:id="rId5"/>
              </a:rPr>
              <a:t>https://huggingface.co/spaces/dku-comsci-econ206-2026/DAO_Treasury</a:t>
            </a:r>
          </a:p>
          <a:p>
            <a:pPr>
              <a:defRPr sz="25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GitHub: </a:t>
            </a: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  <a:hlinkClick r:id="rId6"/>
              </a:rPr>
              <a:t>https://github.com/dku-comsci-econ206-Autumn2026/PS2_Zimu</a:t>
            </a:r>
          </a:p>
          <a:p>
            <a:pPr>
              <a:defRPr sz="25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  <a:hlinkClick r:id="rId11"/>
              </a:rPr>
              <a:t>Commit: 4e96644c9962f7d1441e7d6c36063d4b2facf3de</a:t>
            </a:r>
          </a:p>
          <a:p>
            <a:pPr>
              <a:defRPr sz="2500" b="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Colab: </a:t>
            </a:r>
            <a:r>
              <a:rPr sz="2500" b="0">
                <a:solidFill>
                  <a:srgbClr val="17232E"/>
                </a:solidFill>
                <a:latin typeface="Calibri"/>
                <a:ea typeface="Calibri"/>
                <a:cs typeface="Calibri"/>
                <a:hlinkClick r:id="rId7"/>
              </a:rPr>
              <a:t>https://colab.research.google.com/github/dku-comsci-econ206-Autumn2026/PS2_Zimu/blob/main/dao_treasury_simulation.ipynb</a:t>
            </a:r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0600000" y="28836000"/>
            <a:ext cx="1116000" cy="1116000"/>
          </a:xfrm>
          <a:prstGeom prst="rect">
            <a:avLst/>
          </a:prstGeom>
        </p:spPr>
      </p:pic>
      <p:sp>
        <p:nvSpPr>
          <p:cNvPr id="116" name="Hugging Face">
            <a:extLst>
              <a:ext uri="{FF2B5EF4-FFF2-40B4-BE49-F238E27FC236}">
                <a16:creationId xmlns:a16="http://schemas.microsoft.com/office/drawing/2014/main" id="{B38FB5CE-343A-4143-9F94-577088AA7264}"/>
              </a:ext>
            </a:extLst>
          </p:cNvPr>
          <p:cNvSpPr>
            <a:spLocks noGrp="1"/>
          </p:cNvSpPr>
          <p:nvPr/>
        </p:nvSpPr>
        <p:spPr>
          <a:xfrm>
            <a:off x="30600000" y="29988000"/>
            <a:ext cx="306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3B8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3B86"/>
                </a:solidFill>
                <a:latin typeface="Calibri"/>
                <a:ea typeface="Calibri"/>
                <a:cs typeface="Calibri"/>
              </a:rPr>
              <a:t>Hugging Face</a:t>
            </a:r>
          </a:p>
        </p:txBody>
      </p:sp>
      <p:pic>
        <p:nvPicPr>
          <p:cNvPr id="185" name="Picture 18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4236000" y="28836000"/>
            <a:ext cx="1116000" cy="1116000"/>
          </a:xfrm>
          <a:prstGeom prst="rect">
            <a:avLst/>
          </a:prstGeom>
        </p:spPr>
      </p:pic>
      <p:sp>
        <p:nvSpPr>
          <p:cNvPr id="118" name="GitHub">
            <a:extLst>
              <a:ext uri="{FF2B5EF4-FFF2-40B4-BE49-F238E27FC236}">
                <a16:creationId xmlns:a16="http://schemas.microsoft.com/office/drawing/2014/main" id="{F7D82240-F1E5-4689-B568-A9ADAEBD5B04}"/>
              </a:ext>
            </a:extLst>
          </p:cNvPr>
          <p:cNvSpPr>
            <a:spLocks noGrp="1"/>
          </p:cNvSpPr>
          <p:nvPr/>
        </p:nvSpPr>
        <p:spPr>
          <a:xfrm>
            <a:off x="34236000" y="29988000"/>
            <a:ext cx="306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3B8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3B86"/>
                </a:solidFill>
                <a:latin typeface="Calibri"/>
                <a:ea typeface="Calibri"/>
                <a:cs typeface="Calibri"/>
              </a:rPr>
              <a:t>GitHub</a:t>
            </a:r>
          </a:p>
        </p:txBody>
      </p:sp>
      <p:pic>
        <p:nvPicPr>
          <p:cNvPr id="188" name="Picture 187" descr="colab_qr.png">
            <a:hlinkClick r:id="rId7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72000" y="28836000"/>
            <a:ext cx="1116000" cy="1116000"/>
          </a:xfrm>
          <a:prstGeom prst="rect">
            <a:avLst/>
          </a:prstGeom>
        </p:spPr>
      </p:pic>
      <p:sp>
        <p:nvSpPr>
          <p:cNvPr id="120" name="Colab">
            <a:extLst>
              <a:ext uri="{FF2B5EF4-FFF2-40B4-BE49-F238E27FC236}">
                <a16:creationId xmlns:a16="http://schemas.microsoft.com/office/drawing/2014/main" id="{8031077C-B34F-4005-BE98-191A660E6BEB}"/>
              </a:ext>
            </a:extLst>
          </p:cNvPr>
          <p:cNvSpPr>
            <a:spLocks noGrp="1"/>
          </p:cNvSpPr>
          <p:nvPr/>
        </p:nvSpPr>
        <p:spPr>
          <a:xfrm>
            <a:off x="37872000" y="29988000"/>
            <a:ext cx="306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3B86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3B86"/>
                </a:solidFill>
                <a:latin typeface="Calibri"/>
                <a:ea typeface="Calibri"/>
                <a:cs typeface="Calibri"/>
              </a:rPr>
              <a:t>Colab</a:t>
            </a:r>
          </a:p>
        </p:txBody>
      </p:sp>
    </p:spTree>
    <p:extLst>
      <p:ext uri="{BB962C8B-B14F-4D97-AF65-F5344CB8AC3E}">
        <p14:creationId xmlns:p14="http://schemas.microsoft.com/office/powerpoint/2010/main" val="813982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Microsoft Macintosh PowerPoint</Application>
  <DocSecurity>0</DocSecurity>
  <PresentationFormat>Custom</PresentationFormat>
  <Paragraphs>114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Governing the DAO Treasury: Token-Weighted vs. Square-Root Voting</dc:title>
  <dc:creator>Zimu Zhou</dc:creator>
  <cp:lastModifiedBy>Zimu Zhou</cp:lastModifiedBy>
  <cp:revision>1</cp:revision>
  <dcterms:created xsi:type="dcterms:W3CDTF">2026-09-27T14:20:15Z</dcterms:created>
  <dcterms:modified xsi:type="dcterms:W3CDTF">2026-09-27T14:46:06Z</dcterms:modified>
  <dc:subject>PS2 FP11 A0 poster — sincere-voting benchmark, October 2026</dc:subject>
</cp:coreProperties>
</file>